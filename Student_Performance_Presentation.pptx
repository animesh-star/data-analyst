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Metric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MAE</c:v>
                  </c:pt>
                  <c:pt idx="1">
                    <c:v>RMSE</c:v>
                  </c:pt>
                  <c:pt idx="2">
                    <c:v>R²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3.395</c:v>
                </c:pt>
                <c:pt idx="1">
                  <c:v>4.196</c:v>
                </c:pt>
                <c:pt idx="2">
                  <c:v>0.141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MAE</c:v>
                  </c:pt>
                  <c:pt idx="1">
                    <c:v>RMSE</c:v>
                  </c:pt>
                  <c:pt idx="2">
                    <c:v>R²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3.01</c:v>
                </c:pt>
                <c:pt idx="1">
                  <c:v>3.765</c:v>
                </c:pt>
                <c:pt idx="2">
                  <c:v>0.309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MACHINE LEARNING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 Analysis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Academic Success Prediction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4343400"/>
            <a:ext cx="2926080" cy="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663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029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394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University: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5394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760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5760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6126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6126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can be influenced by academic, demographic, social and behavioral factors.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can reveal patterns within student performance data.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be used to develop predictive models.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student performance and predicts final mathematics grades.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06640" y="146304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406640" y="33832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Mathematics Grade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(Prediction Target)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06640" y="4297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 students  •  33 variables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student data contains multiple academic, demographic, family, social and behavioral variables. These variables need to be analyzed to identify meaningful patterns associated with final academic performance.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"Can student characteristics be used to predict a student's final mathematics grade?"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4206240"/>
            <a:ext cx="10607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18304" y="42062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0FA3B1"/>
          </a:solidFill>
          <a:ln/>
        </p:spPr>
      </p:sp>
      <p:sp>
        <p:nvSpPr>
          <p:cNvPr id="10" name="Text 8"/>
          <p:cNvSpPr/>
          <p:nvPr/>
        </p:nvSpPr>
        <p:spPr>
          <a:xfrm>
            <a:off x="4718304" y="42062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61504" y="4206240"/>
            <a:ext cx="10698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31352" y="42062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531352" y="42062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2956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6367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36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4448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student performance dataset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417320"/>
            <a:ext cx="5362956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6441948" y="16367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41948" y="1636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54596" y="1417320"/>
            <a:ext cx="4448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the 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5362956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715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496312"/>
            <a:ext cx="4448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patterns associated with final grades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7356" y="2496312"/>
            <a:ext cx="5362956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1948" y="2715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41948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54596" y="2496312"/>
            <a:ext cx="4448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study time, absences and previous failures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75304"/>
            <a:ext cx="5362956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575304"/>
            <a:ext cx="4448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machine-learning prediction models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77356" y="3575304"/>
            <a:ext cx="5362956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1948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4194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4596" y="3575304"/>
            <a:ext cx="4448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Linear Regression and Random Forest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654296"/>
            <a:ext cx="5362956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8737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4654296"/>
            <a:ext cx="4448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 using MAE, RMSE and R²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77356" y="4654296"/>
            <a:ext cx="5362956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1948" y="48737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1948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54596" y="4654296"/>
            <a:ext cx="4448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Power BI dashboard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697480" y="14173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(Math)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379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18379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student-mat.csv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22585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791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6791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09981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309981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— Final Mathematics Grade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 Used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  ·   sex   ·   age   ·   studytime   ·   failures   ·   schoolsup   ·   absences   ·   G1   ·   G2   ·   G3</a:t>
            </a:r>
            <a:endParaRPr lang="en-US" sz="1200" dirty="0"/>
          </a:p>
        </p:txBody>
      </p:sp>
      <p:pic>
        <p:nvPicPr>
          <p:cNvPr id="15" name="Image 0" descr="/home/claude/imgs/boxplot_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25880"/>
            <a:ext cx="5303520" cy="38679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309360" y="5212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final grades (G3) across all 395 students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466959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554480"/>
            <a:ext cx="1375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5599" y="155448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52759" y="1554480"/>
            <a:ext cx="1466959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2198479" y="1554480"/>
            <a:ext cx="1375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19718" y="155448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56878" y="1554480"/>
            <a:ext cx="1466959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802598" y="1554480"/>
            <a:ext cx="1375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Duplicate Check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23837" y="155448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60997" y="1554480"/>
            <a:ext cx="1466959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06717" y="1554480"/>
            <a:ext cx="1375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27955" y="155448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65115" y="1554480"/>
            <a:ext cx="1466959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7010835" y="1554480"/>
            <a:ext cx="1375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32074" y="155448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69234" y="1554480"/>
            <a:ext cx="1466959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8614954" y="1554480"/>
            <a:ext cx="1375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Scaling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36193" y="155448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73353" y="1554480"/>
            <a:ext cx="1466959" cy="1005840"/>
          </a:xfrm>
          <a:prstGeom prst="roundRect">
            <a:avLst>
              <a:gd name="adj" fmla="val 5455"/>
            </a:avLst>
          </a:prstGeom>
          <a:solidFill>
            <a:srgbClr val="0FA3B1"/>
          </a:solidFill>
          <a:ln/>
        </p:spPr>
      </p:sp>
      <p:sp>
        <p:nvSpPr>
          <p:cNvPr id="22" name="Text 20"/>
          <p:cNvSpPr/>
          <p:nvPr/>
        </p:nvSpPr>
        <p:spPr>
          <a:xfrm>
            <a:off x="10219073" y="1554480"/>
            <a:ext cx="1375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10896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variables were processed using preprocessing / scaling (median imputation + standard scaling).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were one-hot encoded.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ML model excluded G1 and G2 (previous-period grades), to test prediction from student characteristics alone.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pic>
        <p:nvPicPr>
          <p:cNvPr id="3" name="Image 0" descr="/home/claude/imgs/boxplot_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14344" cy="2670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179661"/>
            <a:ext cx="3514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 Distribution (Boxplot)</a:t>
            </a:r>
            <a:endParaRPr lang="en-US" sz="1150" dirty="0"/>
          </a:p>
        </p:txBody>
      </p:sp>
      <p:pic>
        <p:nvPicPr>
          <p:cNvPr id="5" name="Image 1" descr="/home/claude/imgs/studytime_vs_g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1417320"/>
            <a:ext cx="3514344" cy="26709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37304" y="4179661"/>
            <a:ext cx="3514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vs Final Grade</a:t>
            </a:r>
            <a:endParaRPr lang="en-US" sz="1150" dirty="0"/>
          </a:p>
        </p:txBody>
      </p:sp>
      <p:pic>
        <p:nvPicPr>
          <p:cNvPr id="7" name="Image 2" descr="/home/claude/imgs/absences_vs_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968" y="1417320"/>
            <a:ext cx="3514344" cy="26709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25968" y="4179661"/>
            <a:ext cx="3514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vs Final Grade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EDA Observations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 distribution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926080" y="1417320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score in the middle range; the boxplot shows the spread and outliers of G3.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25856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22585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G3 rises with weekly study time (approx. 10.1 at the lowest band to 11.3 at the highest, per group means).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99816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3099816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absences and G3 is very weak (r ≈ 0.03) in this dataset — no strong linear relationship.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941064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failures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3941064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G3 drops sharply as prior failures increase (from ≈11.3 with 0 failures to ≈5.7 with 3 failures).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78231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4782312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and G2 show the strongest correlation with G3; most other numerical variables correlate weakly.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466959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76072" y="1554480"/>
            <a:ext cx="1412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Dataset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015599" y="1554480"/>
            <a:ext cx="137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52759" y="1554480"/>
            <a:ext cx="1466959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2180191" y="1554480"/>
            <a:ext cx="1412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(excl. G1, G2)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19718" y="1554480"/>
            <a:ext cx="137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56878" y="1554480"/>
            <a:ext cx="1466959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784310" y="1554480"/>
            <a:ext cx="1412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 Split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23837" y="1554480"/>
            <a:ext cx="137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60997" y="1554480"/>
            <a:ext cx="1466959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388429" y="1554480"/>
            <a:ext cx="1412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27955" y="1554480"/>
            <a:ext cx="137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65115" y="1554480"/>
            <a:ext cx="1466959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992547" y="1554480"/>
            <a:ext cx="1412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Random Forest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32074" y="1554480"/>
            <a:ext cx="137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69234" y="1554480"/>
            <a:ext cx="1466959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8596666" y="1554480"/>
            <a:ext cx="1412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36193" y="1554480"/>
            <a:ext cx="137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73353" y="1554480"/>
            <a:ext cx="1466959" cy="1234440"/>
          </a:xfrm>
          <a:prstGeom prst="roundRect">
            <a:avLst>
              <a:gd name="adj" fmla="val 4444"/>
            </a:avLst>
          </a:prstGeom>
          <a:solidFill>
            <a:srgbClr val="0FA3B1"/>
          </a:solidFill>
          <a:ln/>
        </p:spPr>
      </p:sp>
      <p:sp>
        <p:nvSpPr>
          <p:cNvPr id="22" name="Text 20"/>
          <p:cNvSpPr/>
          <p:nvPr/>
        </p:nvSpPr>
        <p:spPr>
          <a:xfrm>
            <a:off x="10200785" y="1554480"/>
            <a:ext cx="1412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— Final Mathematics Grade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 •   RMSE   •   R²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 •  Random Forest Regression (n_estimators = 300)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1645920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  <a:gridCol w="1508760"/>
                <a:gridCol w="1508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A3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A3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A3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3832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test split used in this project, Random Forest produced lower MAE and RMSE and a higher R² than Linear Regression.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0" y="1371600"/>
          <a:ext cx="4846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vs Predicted Final Grades</a:t>
            </a:r>
            <a:endParaRPr lang="en-US" sz="3200" dirty="0"/>
          </a:p>
        </p:txBody>
      </p:sp>
      <p:pic>
        <p:nvPicPr>
          <p:cNvPr id="3" name="Image 0" descr="/home/claude/imgs/actual_vs_predicted_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371600"/>
            <a:ext cx="4937760" cy="393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394960"/>
            <a:ext cx="10543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observed final grades and Random Forest predictions on the test set.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5806440"/>
            <a:ext cx="10543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of observations indicates that the model does not perfectly predict every student's final grade.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 w="12700">
            <a:solidFill>
              <a:srgbClr val="D5DA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6675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[DASHBOARD SCREENSHOT TO BE FILLED]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File: Student_Performance_Dashboard.pbix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0" y="187452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Final Grade (G3) by Sex and School Support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by Absences, Study Time and Failures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Final Grade (G3) overview chart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[ADDITIONAL DASHBOARD VISUALS TO BE FILLED]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only the visuals actually present in the submitted .pbix file are listed above.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 &amp;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(Best-performing model on this test split)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3.010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860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3.765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860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2860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67665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shows a positive relationship with average final grade.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failures show a strong negative relationship with average final grade.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show a very weak correlation with final grade in this dataset.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and G2 correlate most strongly with G3 among all numerical variables.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represents a specific student population.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variables do not capture every factor affecting academic performance.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depends on available features and test split.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relationships do not establish causation.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additional machine-learning algorithms.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hyperparameter tuning.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additional educational / contextual variables.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 or more diverse datasets.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prediction application.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&amp; Academic Success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8521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was analyzed using data analytics and machine learning.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was used to investigate patterns associated with final mathematics grades.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and Random Forest Regression were evaluated.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produced MAE 3.010, RMSE 3.765 and R² 0.309 on the test split.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dashboard provides a visual summary of the analysis.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17830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Dataset (student-mat.csv) — UCI Machine Learning Repository.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pandas, numpy, matplotlib, seaborn, scikit-learn.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Desktop.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[ADDITIONAL REFERENCES TO BE FILLED]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2026-09-22T09:09:01Z</dcterms:created>
  <dcterms:modified xsi:type="dcterms:W3CDTF">2026-09-22T09:09:01Z</dcterms:modified>
</cp:coreProperties>
</file>